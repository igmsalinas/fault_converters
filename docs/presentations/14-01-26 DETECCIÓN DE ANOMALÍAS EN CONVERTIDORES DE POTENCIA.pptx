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D1384-20B0-5EAB-FAE8-0E6EEFCDB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3007F7-40F0-CB49-4ED5-B72A97F8F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9F8F78-0762-BC58-1239-97285D391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AD3A5B-7A81-F5B0-092B-885A84D6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271AA5-18DD-AA7F-3906-2F5DA374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287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C74DF-FAD4-889F-9C73-51F52200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75B63-52A8-18A5-3C3D-0ADDA8C02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89CCC0-E44D-A052-19DF-6BDD56D4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2758E8-8FC4-8505-B554-4029FB56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42993F-981A-94CE-837E-F117E3D0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308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C0E5A-1A48-116E-D75D-9A4AD73B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15C49C-F2EE-9C06-E53F-F4366316F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2E1022-88C7-2EE7-9CCF-FAF0DA5B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B89CCC-9CCD-6AD5-3651-879533623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250760-58C6-80CB-4D3D-2DFD8CEF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3264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F8546-ED32-391B-87C7-F467A53D8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CD9036-DD58-B854-F15A-7822142D0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CA82B9-A35D-1CA0-A661-AAEABC07F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7E9004-7C8D-7EB1-44C9-D6F2BA3F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B4E54-6C3C-17FE-5817-36C2F414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6E2D43-1EA9-6379-6AA0-27F2806A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053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34F1D-B862-08FC-935A-4675E755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3E4BE2-1378-CDEE-69B9-1A91A6DF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E7B573-42B0-31E8-65B2-0A94FE809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7062AE-11DF-5132-75A6-4F73C2E57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125AB7-CD23-5DD0-2F8A-F88E0DCBF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B6918B-6C33-830A-818B-E6AD5ED3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6EA786-4812-D98F-9957-43E35471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1E37A1-EDF9-6B30-5D70-5CCF2088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323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1398-75B8-6648-73E5-549009A2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2A80D1-5CD8-83DE-72A8-D46F7C406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31B031-0293-700E-2917-24563E91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A3B550-CCE8-A48B-E196-D42B61AC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50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0616C8-3789-F2AC-84C3-74AA8D5C5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3BFDE5-4A44-29B3-68A0-5254444B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F7ED04-6294-7F78-F64F-63195771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675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A3F48-A263-5BB3-D727-89E642CB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D1AFB-2206-E6AB-0CAD-A5F1EE655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DEBDD8-68F3-6191-6527-5DC39BE8C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01FD63-C25B-FF51-FD3F-0B9833257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1AECF8-9327-08DA-69D8-E23E67F4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11D120-4E25-EAD1-9BEB-EAC3B9FE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251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CB8CA-2594-DCE7-E2DF-45E35495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261C2D-4FDA-8ABF-5826-BFF58B8BE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9DE782-BFED-591C-3D6D-3B1F7777B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7513D8-FA0A-7CF5-02DA-F66384CA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4F4CED-69F2-4748-C381-08DD2E551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B51DF8-2468-0EC8-57D1-75817D68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231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87DEC-D0A8-2B12-B67D-262B55AA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D00C0B-7FD2-4514-7789-2B4C8CF89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A0E70D-667B-286E-CB1C-BE936C53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F9F378-E2C6-6C26-8D8C-DE3DEB1E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858CE8-7E30-59D2-CE00-507E2DFA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09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E8851B-9F23-9B5B-A803-D9193AAC8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44F9B0-B8E1-F975-953E-09F63C9F9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02911-C7F4-3E38-16B6-42A6F1DB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08AC36-99FA-B684-BEDB-5FBC029CD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74613E-5684-0753-369A-1A5AD3AE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274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00E10F1-D514-ABE3-9107-6B5928D9E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CB9573-C3D8-D888-8033-1A7C8974D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9E243C-FDF3-841B-97BB-46C6473FA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A8C6D-431F-41B0-8E26-D0003B02E9D3}" type="datetimeFigureOut">
              <a:rPr lang="es-ES" smtClean="0"/>
              <a:t>10/03/2026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4B04E0-79A9-A8CE-F716-2996CB6CD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962CB-EEA9-52E5-0E45-5E0E13163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F69D6-4BC7-468B-863E-9BC406AAD6A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088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98BA0-6190-6400-E689-8F2F43BC4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293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ES" dirty="0"/>
              <a:t>DETECCIÓN DE ANOMALÍAS EN CONVERTIDORES DE POTENCIA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7BE7B4-B0E0-7E7C-CC01-75DBA4BB1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2613"/>
            <a:ext cx="9144000" cy="1655762"/>
          </a:xfrm>
        </p:spPr>
        <p:txBody>
          <a:bodyPr/>
          <a:lstStyle/>
          <a:p>
            <a:r>
              <a:rPr lang="es-ES" dirty="0"/>
              <a:t>14/01/2026</a:t>
            </a:r>
          </a:p>
        </p:txBody>
      </p:sp>
    </p:spTree>
    <p:extLst>
      <p:ext uri="{BB962C8B-B14F-4D97-AF65-F5344CB8AC3E}">
        <p14:creationId xmlns:p14="http://schemas.microsoft.com/office/powerpoint/2010/main" val="3594550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F526E-6B99-609E-D9C8-09E2E4F3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6EACCE-4469-54C3-A728-26A4BD34C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623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Valores nominales</a:t>
            </a:r>
          </a:p>
          <a:p>
            <a:r>
              <a:rPr lang="es-ES" sz="1800" dirty="0"/>
              <a:t>Vin = 50 V</a:t>
            </a:r>
          </a:p>
          <a:p>
            <a:r>
              <a:rPr lang="es-ES" sz="1800" dirty="0"/>
              <a:t>Rout = 50 Ω</a:t>
            </a:r>
          </a:p>
          <a:p>
            <a:r>
              <a:rPr lang="es-ES" sz="1800" dirty="0"/>
              <a:t>Lout = 20 mH</a:t>
            </a:r>
          </a:p>
          <a:p>
            <a:r>
              <a:rPr lang="es-ES" sz="1800" dirty="0"/>
              <a:t>Cout = 1mF</a:t>
            </a:r>
          </a:p>
          <a:p>
            <a:r>
              <a:rPr lang="es-ES" sz="1800" dirty="0"/>
              <a:t>Rds1 = 10 mΩ</a:t>
            </a:r>
          </a:p>
          <a:p>
            <a:r>
              <a:rPr lang="es-ES" sz="1800" dirty="0"/>
              <a:t>Rds2 = 10 mΩ</a:t>
            </a:r>
          </a:p>
          <a:p>
            <a:r>
              <a:rPr lang="es-ES" sz="1800" dirty="0"/>
              <a:t>EsrL = 0.1 Ω</a:t>
            </a:r>
          </a:p>
          <a:p>
            <a:r>
              <a:rPr lang="es-ES" sz="1800" dirty="0"/>
              <a:t>EsrC = 20 mΩ</a:t>
            </a:r>
          </a:p>
          <a:p>
            <a:r>
              <a:rPr lang="es-ES" sz="1800" dirty="0"/>
              <a:t>D = 0.4</a:t>
            </a:r>
          </a:p>
          <a:p>
            <a:r>
              <a:rPr lang="es-ES" sz="1800" dirty="0" err="1"/>
              <a:t>fsw</a:t>
            </a:r>
            <a:r>
              <a:rPr lang="es-ES" sz="1800" dirty="0"/>
              <a:t> = 100 kHz</a:t>
            </a:r>
          </a:p>
          <a:p>
            <a:endParaRPr lang="es-ES" sz="1800" dirty="0"/>
          </a:p>
          <a:p>
            <a:r>
              <a:rPr lang="es-ES" sz="1800" dirty="0"/>
              <a:t>AC </a:t>
            </a:r>
            <a:r>
              <a:rPr lang="es-ES" sz="1800" dirty="0" err="1"/>
              <a:t>sweep</a:t>
            </a:r>
            <a:r>
              <a:rPr lang="es-ES" sz="1800" dirty="0"/>
              <a:t> = 100 Hz – 50 kHz</a:t>
            </a:r>
          </a:p>
          <a:p>
            <a:endParaRPr lang="es-ES" sz="1800" dirty="0"/>
          </a:p>
        </p:txBody>
      </p:sp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8F63EE2C-AD13-AA1A-8B23-C833DA6C5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812383"/>
            <a:ext cx="7539681" cy="553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8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17339-C8C7-C8BC-F135-C59A75CA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Automatización de Simulaciones PSIM con Python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B52B7-9DCC-C7E8-D455-404DB0C2F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S" sz="2000" b="1" dirty="0"/>
              <a:t>Propósito</a:t>
            </a:r>
            <a:r>
              <a:rPr lang="es-ES" sz="2000" dirty="0"/>
              <a:t>: Ejecutar simulaciones masivas de un convertidor Buck variando parámetros de componentes para análisis de sensibilidad o generación de datasets.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Variación Automática de Parámetros: </a:t>
            </a:r>
            <a:r>
              <a:rPr lang="es-ES" sz="2000" dirty="0"/>
              <a:t>Genera combinaciones basadas en un porcentaje de variación (ej. ±20%) y un paso definido. Permite seleccionar componentes específicos (</a:t>
            </a:r>
            <a:r>
              <a:rPr lang="es-ES" sz="2000" dirty="0">
                <a:effectLst/>
              </a:rPr>
              <a:t>Cout</a:t>
            </a:r>
            <a:r>
              <a:rPr lang="es-ES" sz="2000" dirty="0"/>
              <a:t>​, </a:t>
            </a:r>
            <a:r>
              <a:rPr lang="es-ES" sz="2000" dirty="0">
                <a:effectLst/>
              </a:rPr>
              <a:t>Rds</a:t>
            </a:r>
            <a:r>
              <a:rPr lang="es-ES" sz="2000" dirty="0"/>
              <a:t>​, etc.) o variar todos los críticos.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Procesamiento en Paralelo (Alta Eficiencia): </a:t>
            </a:r>
            <a:r>
              <a:rPr lang="es-ES" sz="2000" dirty="0"/>
              <a:t>Utiliza la librería multiprocessing para lanzar hasta 8 simulaciones simultáneas. Gestiona instancias individuales de PSIM mediante psimapipy.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Gestión Inteligente de Datos: </a:t>
            </a:r>
            <a:r>
              <a:rPr lang="es-ES" sz="2000" dirty="0"/>
              <a:t>Comprueba si la simulación ya existe en la carpeta de destino para no repetir cálculos. Guarda los resultados con nombres que indican el componente y su variación (ej. Cout_+10.txt)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Entorno de Trabajo Seguro: </a:t>
            </a:r>
            <a:r>
              <a:rPr lang="es-ES" sz="2000" dirty="0"/>
              <a:t>Crea directorios temporales aislados para cada proceso de trabajo (workers) para evitar conflictos de escritura. Limpieza automática de archivos temporales al finalizar.</a:t>
            </a:r>
          </a:p>
        </p:txBody>
      </p:sp>
    </p:spTree>
    <p:extLst>
      <p:ext uri="{BB962C8B-B14F-4D97-AF65-F5344CB8AC3E}">
        <p14:creationId xmlns:p14="http://schemas.microsoft.com/office/powerpoint/2010/main" val="69659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CFE89-3B19-78A9-68E1-561D59F4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obtenidos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387EDB-3C36-011C-FD6C-B68F65795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41355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Variación de </a:t>
            </a:r>
            <a:r>
              <a:rPr lang="es-ES" b="1" dirty="0"/>
              <a:t>5 componentes </a:t>
            </a:r>
            <a:r>
              <a:rPr lang="es-ES" dirty="0"/>
              <a:t>-&gt; 'Cout', 'Rds_1', 'Rds_2', 'Esr_L', 'Esr_C'</a:t>
            </a:r>
          </a:p>
          <a:p>
            <a:r>
              <a:rPr lang="es-ES" b="1" dirty="0"/>
              <a:t>25.517</a:t>
            </a:r>
            <a:r>
              <a:rPr lang="es-ES" dirty="0"/>
              <a:t> simulaciones realizadas</a:t>
            </a:r>
          </a:p>
          <a:p>
            <a:r>
              <a:rPr lang="es-ES" b="1" dirty="0"/>
              <a:t>220.099 </a:t>
            </a:r>
            <a:r>
              <a:rPr lang="es-ES" dirty="0"/>
              <a:t>datos totales a obtener</a:t>
            </a:r>
          </a:p>
          <a:p>
            <a:pPr lvl="1"/>
            <a:r>
              <a:rPr lang="es-ES" dirty="0"/>
              <a:t>161.051 datos para entrenamiento y validación</a:t>
            </a:r>
          </a:p>
          <a:p>
            <a:pPr lvl="1"/>
            <a:r>
              <a:rPr lang="es-ES" dirty="0"/>
              <a:t>59.048 datos para ajuste de threshold de anomalía y testing</a:t>
            </a:r>
          </a:p>
          <a:p>
            <a:r>
              <a:rPr lang="es-ES" dirty="0"/>
              <a:t>Entrenamiento y validación </a:t>
            </a:r>
          </a:p>
          <a:p>
            <a:pPr lvl="1"/>
            <a:r>
              <a:rPr lang="es-ES" dirty="0"/>
              <a:t>Datos variables, salto de </a:t>
            </a:r>
            <a:r>
              <a:rPr lang="es-ES" b="1" dirty="0"/>
              <a:t>1%</a:t>
            </a:r>
            <a:r>
              <a:rPr lang="es-ES" dirty="0"/>
              <a:t> con un máximo de </a:t>
            </a:r>
            <a:r>
              <a:rPr lang="es-ES" b="1" dirty="0"/>
              <a:t>+- 5%</a:t>
            </a:r>
          </a:p>
          <a:p>
            <a:pPr lvl="1"/>
            <a:r>
              <a:rPr lang="es-ES" dirty="0"/>
              <a:t>Permite realizar estudio sobre precisión del sistema eligiendo datos</a:t>
            </a:r>
          </a:p>
          <a:p>
            <a:r>
              <a:rPr lang="es-ES" dirty="0"/>
              <a:t>Ajuste y testing</a:t>
            </a:r>
          </a:p>
          <a:p>
            <a:pPr lvl="1"/>
            <a:r>
              <a:rPr lang="es-ES" dirty="0"/>
              <a:t>Salto de </a:t>
            </a:r>
            <a:r>
              <a:rPr lang="es-ES" b="1" dirty="0"/>
              <a:t>5% </a:t>
            </a:r>
            <a:r>
              <a:rPr lang="es-ES" dirty="0"/>
              <a:t>con un máximo de </a:t>
            </a:r>
            <a:r>
              <a:rPr lang="es-ES" b="1" dirty="0"/>
              <a:t>+- 20%</a:t>
            </a:r>
          </a:p>
          <a:p>
            <a:pPr lvl="1"/>
            <a:r>
              <a:rPr lang="es-ES" dirty="0"/>
              <a:t>Valores anómalos para definición de thresholds y testing de modelos entrenados</a:t>
            </a:r>
          </a:p>
        </p:txBody>
      </p:sp>
    </p:spTree>
    <p:extLst>
      <p:ext uri="{BB962C8B-B14F-4D97-AF65-F5344CB8AC3E}">
        <p14:creationId xmlns:p14="http://schemas.microsoft.com/office/powerpoint/2010/main" val="427825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FB67-A363-953C-65C3-E9BDB1A0C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Entrenamientos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7B14C3-79C2-127D-B66D-9E717DA7C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(Software aún en desarrollo)</a:t>
            </a:r>
          </a:p>
        </p:txBody>
      </p:sp>
    </p:spTree>
    <p:extLst>
      <p:ext uri="{BB962C8B-B14F-4D97-AF65-F5344CB8AC3E}">
        <p14:creationId xmlns:p14="http://schemas.microsoft.com/office/powerpoint/2010/main" val="50166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ACA6F-45D3-D937-D8E4-B0793FE8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Modelos a entrenar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C6D82B-7C04-E4EF-E8BF-701134C8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Autoencoder Convolucional 1d</a:t>
            </a:r>
          </a:p>
          <a:p>
            <a:r>
              <a:rPr lang="es-ES" dirty="0"/>
              <a:t>LSTM Autoencoder</a:t>
            </a:r>
          </a:p>
          <a:p>
            <a:r>
              <a:rPr lang="es-ES" dirty="0"/>
              <a:t>Variational Autoencoder</a:t>
            </a:r>
          </a:p>
          <a:p>
            <a:r>
              <a:rPr lang="es-ES" dirty="0"/>
              <a:t>Transformer Autoencoder</a:t>
            </a:r>
          </a:p>
          <a:p>
            <a:r>
              <a:rPr lang="es-ES" dirty="0"/>
              <a:t>Contrastive Autoencoder</a:t>
            </a:r>
          </a:p>
        </p:txBody>
      </p:sp>
    </p:spTree>
    <p:extLst>
      <p:ext uri="{BB962C8B-B14F-4D97-AF65-F5344CB8AC3E}">
        <p14:creationId xmlns:p14="http://schemas.microsoft.com/office/powerpoint/2010/main" val="83802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52171-67AF-9571-233B-A1594759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Entrenamiento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07D9BC-2ACF-DDCE-952A-F3571BBC7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Búsqueda de hiperparámetros</a:t>
            </a:r>
          </a:p>
          <a:p>
            <a:pPr lvl="1"/>
            <a:r>
              <a:rPr lang="es-ES" dirty="0"/>
              <a:t>Funciones de activación</a:t>
            </a:r>
          </a:p>
          <a:p>
            <a:pPr lvl="1"/>
            <a:r>
              <a:rPr lang="es-ES" dirty="0"/>
              <a:t>Optimizadores</a:t>
            </a:r>
          </a:p>
          <a:p>
            <a:pPr lvl="1"/>
            <a:r>
              <a:rPr lang="es-ES" dirty="0"/>
              <a:t>Learning rate</a:t>
            </a:r>
          </a:p>
          <a:p>
            <a:pPr lvl="1"/>
            <a:r>
              <a:rPr lang="es-ES" dirty="0"/>
              <a:t>Learning rate scheduler</a:t>
            </a:r>
          </a:p>
          <a:p>
            <a:pPr lvl="1"/>
            <a:r>
              <a:rPr lang="es-ES" dirty="0"/>
              <a:t>Dimensión latente</a:t>
            </a:r>
          </a:p>
          <a:p>
            <a:pPr lvl="1"/>
            <a:r>
              <a:rPr lang="es-ES" dirty="0"/>
              <a:t>Filtros convolucionales</a:t>
            </a:r>
          </a:p>
          <a:p>
            <a:pPr lvl="1"/>
            <a:r>
              <a:rPr lang="es-ES" dirty="0"/>
              <a:t>Unidades LSTM</a:t>
            </a:r>
          </a:p>
          <a:p>
            <a:pPr lvl="1"/>
            <a:r>
              <a:rPr lang="es-ES" dirty="0"/>
              <a:t>Dropout</a:t>
            </a:r>
          </a:p>
        </p:txBody>
      </p:sp>
    </p:spTree>
    <p:extLst>
      <p:ext uri="{BB962C8B-B14F-4D97-AF65-F5344CB8AC3E}">
        <p14:creationId xmlns:p14="http://schemas.microsoft.com/office/powerpoint/2010/main" val="83054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4CEB6-2C79-5C37-DE1D-F1146344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Métricas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8491FC-6E79-F2FD-9B5C-197CC3D6C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Precisión</a:t>
            </a:r>
          </a:p>
          <a:p>
            <a:r>
              <a:rPr lang="es-ES" dirty="0"/>
              <a:t>Recall</a:t>
            </a:r>
          </a:p>
          <a:p>
            <a:r>
              <a:rPr lang="es-ES" dirty="0"/>
              <a:t>F1</a:t>
            </a:r>
          </a:p>
          <a:p>
            <a:r>
              <a:rPr lang="es-ES" dirty="0"/>
              <a:t>ROC AUC</a:t>
            </a:r>
          </a:p>
          <a:p>
            <a:r>
              <a:rPr lang="es-ES" dirty="0"/>
              <a:t>Matrices de confusión</a:t>
            </a:r>
          </a:p>
          <a:p>
            <a:r>
              <a:rPr lang="es-ES" dirty="0"/>
              <a:t>Curvas de precisión / recall y ROC</a:t>
            </a:r>
          </a:p>
        </p:txBody>
      </p:sp>
    </p:spTree>
    <p:extLst>
      <p:ext uri="{BB962C8B-B14F-4D97-AF65-F5344CB8AC3E}">
        <p14:creationId xmlns:p14="http://schemas.microsoft.com/office/powerpoint/2010/main" val="421144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6A6B0-BC7F-6CB7-25F9-8684B074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Inferencia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159C21-BB66-B1F0-4390-B005E2B3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Optimización para ejecución en sistema Edge AI / Micro / FPGAs</a:t>
            </a:r>
          </a:p>
          <a:p>
            <a:pPr lvl="1"/>
            <a:r>
              <a:rPr lang="es-ES" dirty="0"/>
              <a:t>Aceleración</a:t>
            </a:r>
          </a:p>
          <a:p>
            <a:pPr lvl="1"/>
            <a:r>
              <a:rPr lang="es-ES" dirty="0"/>
              <a:t>Reducción de parámetros y número de bits</a:t>
            </a:r>
          </a:p>
          <a:p>
            <a:pPr lvl="1"/>
            <a:endParaRPr lang="es-ES" dirty="0"/>
          </a:p>
          <a:p>
            <a:r>
              <a:rPr lang="es-ES" dirty="0"/>
              <a:t>Adaptadores en C ++ para micros</a:t>
            </a:r>
          </a:p>
          <a:p>
            <a:r>
              <a:rPr lang="es-ES" dirty="0"/>
              <a:t>Creación de server de inferencia optimizado en Edge AI</a:t>
            </a:r>
          </a:p>
          <a:p>
            <a:r>
              <a:rPr lang="es-ES" dirty="0"/>
              <a:t>Compilaciones para FPGAs</a:t>
            </a:r>
          </a:p>
        </p:txBody>
      </p:sp>
    </p:spTree>
    <p:extLst>
      <p:ext uri="{BB962C8B-B14F-4D97-AF65-F5344CB8AC3E}">
        <p14:creationId xmlns:p14="http://schemas.microsoft.com/office/powerpoint/2010/main" val="764086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422</Words>
  <Application>Microsoft Office PowerPoint</Application>
  <PresentationFormat>Panorámica</PresentationFormat>
  <Paragraphs>71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DETECCIÓN DE ANOMALÍAS EN CONVERTIDORES DE POTENCIA</vt:lpstr>
      <vt:lpstr>Contexto</vt:lpstr>
      <vt:lpstr>Automatización de Simulaciones PSIM con Python</vt:lpstr>
      <vt:lpstr>Datos obtenidos</vt:lpstr>
      <vt:lpstr>Entrenamientos</vt:lpstr>
      <vt:lpstr>Modelos a entrenar</vt:lpstr>
      <vt:lpstr>Entrenamiento</vt:lpstr>
      <vt:lpstr>Métricas</vt:lpstr>
      <vt:lpstr>Inferencia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Martín Salinas</dc:creator>
  <cp:lastModifiedBy>Ignacio Martín Salinas</cp:lastModifiedBy>
  <cp:revision>2</cp:revision>
  <dcterms:created xsi:type="dcterms:W3CDTF">2026-01-14T18:16:19Z</dcterms:created>
  <dcterms:modified xsi:type="dcterms:W3CDTF">2026-03-10T18:13:50Z</dcterms:modified>
</cp:coreProperties>
</file>